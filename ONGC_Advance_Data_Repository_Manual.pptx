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Advance Data Repository</a:t>
            </a:r>
          </a:p>
          <a:p>
            <a:pPr algn="ctr">
              <a:spcBef>
                <a:spcPts val="800"/>
              </a:spcBef>
              <a:defRPr sz="2800">
                <a:solidFill>
                  <a:srgbClr val="BBDEFB"/>
                </a:solidFill>
              </a:defRPr>
            </a:pPr>
            <a:r>
              <a:t>by Geophysical Services</a:t>
            </a:r>
          </a:p>
          <a:p>
            <a:pPr algn="ctr">
              <a:spcBef>
                <a:spcPts val="2400"/>
              </a:spcBef>
              <a:defRPr sz="1800">
                <a:solidFill>
                  <a:srgbClr val="90CAF9"/>
                </a:solidFill>
              </a:defRPr>
            </a:pPr>
            <a:r>
              <a:t>Digital Platform for Secure Storage, Data Management &amp; Access</a:t>
            </a:r>
          </a:p>
          <a:p>
            <a:pPr algn="ctr">
              <a:spcBef>
                <a:spcPts val="4000"/>
              </a:spcBef>
              <a:defRPr sz="2200" b="1">
                <a:solidFill>
                  <a:srgbClr val="FFFFFF"/>
                </a:solidFill>
              </a:defRPr>
            </a:pPr>
            <a:r>
              <a:t>User Manual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B3D91"/>
                </a:solidFill>
              </a:defRPr>
            </a:pPr>
            <a:r>
              <a:t>  System Overview &amp; Problem Statement</a:t>
            </a:r>
          </a:p>
          <a:p>
            <a:pPr>
              <a:spcAft>
                <a:spcPts val="1000"/>
              </a:spcAft>
              <a:defRPr sz="2000">
                <a:solidFill>
                  <a:srgbClr val="0B3D91"/>
                </a:solidFill>
              </a:defRPr>
            </a:pPr>
            <a:r>
              <a:t>  System Architecture</a:t>
            </a:r>
          </a:p>
          <a:p>
            <a:pPr>
              <a:spcAft>
                <a:spcPts val="1000"/>
              </a:spcAft>
              <a:defRPr sz="2000">
                <a:solidFill>
                  <a:srgbClr val="0B3D91"/>
                </a:solidFill>
              </a:defRPr>
            </a:pPr>
            <a:r>
              <a:t>  User Roles &amp; Access Control</a:t>
            </a:r>
          </a:p>
          <a:p>
            <a:pPr>
              <a:spcAft>
                <a:spcPts val="1000"/>
              </a:spcAft>
              <a:defRPr sz="2000">
                <a:solidFill>
                  <a:srgbClr val="0B3D91"/>
                </a:solidFill>
              </a:defRPr>
            </a:pPr>
            <a:r>
              <a:t>  Authentication &amp; Login</a:t>
            </a:r>
          </a:p>
          <a:p>
            <a:pPr>
              <a:spcAft>
                <a:spcPts val="1000"/>
              </a:spcAft>
              <a:defRPr sz="2000">
                <a:solidFill>
                  <a:srgbClr val="0B3D91"/>
                </a:solidFill>
              </a:defRPr>
            </a:pPr>
            <a:r>
              <a:t>  Dashboard</a:t>
            </a:r>
          </a:p>
          <a:p>
            <a:pPr>
              <a:spcAft>
                <a:spcPts val="1000"/>
              </a:spcAft>
              <a:defRPr sz="2000">
                <a:solidFill>
                  <a:srgbClr val="0B3D91"/>
                </a:solidFill>
              </a:defRPr>
            </a:pPr>
            <a:r>
              <a:t>  File Upload</a:t>
            </a:r>
          </a:p>
          <a:p>
            <a:pPr>
              <a:spcAft>
                <a:spcPts val="1000"/>
              </a:spcAft>
              <a:defRPr sz="2000">
                <a:solidFill>
                  <a:srgbClr val="0B3D91"/>
                </a:solidFill>
              </a:defRPr>
            </a:pPr>
            <a:r>
              <a:t>  File Records &amp; Search</a:t>
            </a:r>
          </a:p>
          <a:p>
            <a:pPr>
              <a:spcAft>
                <a:spcPts val="1000"/>
              </a:spcAft>
              <a:defRPr sz="2000">
                <a:solidFill>
                  <a:srgbClr val="0B3D91"/>
                </a:solidFill>
              </a:defRPr>
            </a:pPr>
            <a:r>
              <a:t>  Approval Workflow</a:t>
            </a:r>
          </a:p>
          <a:p>
            <a:pPr>
              <a:spcAft>
                <a:spcPts val="1000"/>
              </a:spcAft>
              <a:defRPr sz="2000">
                <a:solidFill>
                  <a:srgbClr val="0B3D91"/>
                </a:solidFill>
              </a:defRPr>
            </a:pPr>
            <a:r>
              <a:t>  Notifications</a:t>
            </a:r>
          </a:p>
          <a:p>
            <a:pPr>
              <a:spcAft>
                <a:spcPts val="1000"/>
              </a:spcAft>
              <a:defRPr sz="2000">
                <a:solidFill>
                  <a:srgbClr val="0B3D91"/>
                </a:solidFill>
              </a:defRPr>
            </a:pPr>
            <a:r>
              <a:t>  User Management (Admin)</a:t>
            </a:r>
          </a:p>
          <a:p>
            <a:pPr>
              <a:spcAft>
                <a:spcPts val="1000"/>
              </a:spcAft>
              <a:defRPr sz="2000">
                <a:solidFill>
                  <a:srgbClr val="0B3D91"/>
                </a:solidFill>
              </a:defRPr>
            </a:pPr>
            <a:r>
              <a:t>  Settings &amp; Dropdown Manager (Admin)</a:t>
            </a:r>
          </a:p>
          <a:p>
            <a:pPr>
              <a:spcAft>
                <a:spcPts val="1000"/>
              </a:spcAft>
              <a:defRPr sz="2000">
                <a:solidFill>
                  <a:srgbClr val="0B3D91"/>
                </a:solidFill>
              </a:defRPr>
            </a:pPr>
            <a:r>
              <a:t>  Reports</a:t>
            </a:r>
          </a:p>
          <a:p>
            <a:pPr>
              <a:spcAft>
                <a:spcPts val="1000"/>
              </a:spcAft>
              <a:defRPr sz="2000">
                <a:solidFill>
                  <a:srgbClr val="0B3D91"/>
                </a:solidFill>
              </a:defRPr>
            </a:pPr>
            <a:r>
              <a:t>  Security &amp; Design Highlights</a:t>
            </a:r>
          </a:p>
          <a:p>
            <a:pPr>
              <a:spcAft>
                <a:spcPts val="1000"/>
              </a:spcAft>
              <a:defRPr sz="2000">
                <a:solidFill>
                  <a:srgbClr val="0B3D91"/>
                </a:solidFill>
              </a:defRPr>
            </a:pPr>
            <a:r>
              <a:t>  Technology Stack</a:t>
            </a:r>
          </a:p>
          <a:p>
            <a:pPr>
              <a:spcAft>
                <a:spcPts val="1000"/>
              </a:spcAft>
              <a:defRPr sz="2000">
                <a:solidFill>
                  <a:srgbClr val="0B3D91"/>
                </a:solidFill>
              </a:defRPr>
            </a:pPr>
            <a:r>
              <a:t> 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6A7A"/>
                </a:solidFill>
              </a:defRPr>
            </a:pPr>
            <a:r>
              <a:t>Advance Data Repository by Geophysical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DEFB"/>
                </a:solidFill>
              </a:defRPr>
            </a:pPr>
            <a:r>
              <a:t>Problem Statement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400">
                <a:solidFill>
                  <a:srgbClr val="1A1A2E"/>
                </a:solidFill>
              </a:rPr>
              <a:t>Problem: </a:t>
            </a:r>
            <a:r>
              <a:rPr sz="1400">
                <a:solidFill>
                  <a:srgbClr val="1A1A2E"/>
                </a:solidFill>
              </a:rPr>
              <a:t>Geophysical Services deals with massive volumes of exploration data — seismic, well data, reports, contracts, maps. Data was scattered across shared folders with no centralized access control, audit trail, or approval workflow.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A1A2E"/>
                </a:solidFill>
              </a:rPr>
              <a:t>Solution: </a:t>
            </a:r>
            <a:r>
              <a:rPr sz="1400">
                <a:solidFill>
                  <a:srgbClr val="1A1A2E"/>
                </a:solidFill>
              </a:rPr>
              <a:t>A web-based Advance Data Repository with role-based access, file upload/approval workflow, notifications, and centralized management.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1A1A2E"/>
                </a:solidFill>
              </a:rPr>
              <a:t>Users: </a:t>
            </a:r>
            <a:r>
              <a:rPr sz="1400">
                <a:solidFill>
                  <a:srgbClr val="1A1A2E"/>
                </a:solidFill>
              </a:rPr>
              <a:t>4 roles — Admin, Operations Manager, Data Creator, Viewer — each with distinct permissions and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931920" cy="4114800"/>
          </a:xfrm>
          <a:prstGeom prst="roundRect">
            <a:avLst/>
          </a:prstGeom>
          <a:solidFill>
            <a:srgbClr val="E8EDF2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5A6A7A"/>
                </a:solidFill>
              </a:defRPr>
            </a:pPr>
            <a:r>
              <a:t>[ Screenshot: Login Page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6A7A"/>
                </a:solidFill>
              </a:defRPr>
            </a:pPr>
            <a:r>
              <a:t>Advance Data Repository by Geophysical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1A1A2E"/>
                </a:solidFill>
              </a:rPr>
              <a:t>Frontend: </a:t>
            </a:r>
            <a:r>
              <a:rPr sz="1500">
                <a:solidFill>
                  <a:srgbClr val="1A1A2E"/>
                </a:solidFill>
              </a:rPr>
              <a:t>React 18 + Vite — runs on localhost:5173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A1A2E"/>
                </a:solidFill>
              </a:rPr>
              <a:t>Backend: </a:t>
            </a:r>
            <a:r>
              <a:rPr sz="1500">
                <a:solidFill>
                  <a:srgbClr val="1A1A2E"/>
                </a:solidFill>
              </a:rPr>
              <a:t>Python FastAPI — REST API on localhost:8000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A1A2E"/>
                </a:solidFill>
              </a:rPr>
              <a:t>Database: </a:t>
            </a:r>
            <a:r>
              <a:rPr sz="1500">
                <a:solidFill>
                  <a:srgbClr val="1A1A2E"/>
                </a:solidFill>
              </a:rPr>
              <a:t>PostgreSQL 15 + pgvector (Docker, port 5433)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A1A2E"/>
                </a:solidFill>
              </a:rPr>
              <a:t>File Storage: </a:t>
            </a:r>
            <a:r>
              <a:rPr sz="1500">
                <a:solidFill>
                  <a:srgbClr val="1A1A2E"/>
                </a:solidFill>
              </a:rPr>
              <a:t>Disk (uploads/{category}/{classification}/{filename}) + DB (BYTEA fallback)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A1A2E"/>
                </a:solidFill>
              </a:rPr>
              <a:t>Admin Tool: </a:t>
            </a:r>
            <a:r>
              <a:rPr sz="1500">
                <a:solidFill>
                  <a:srgbClr val="1A1A2E"/>
                </a:solidFill>
              </a:rPr>
              <a:t>pgAdmin 4 on localhost:5050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A1A2E"/>
                </a:solidFill>
              </a:rPr>
              <a:t>OCR Engine: </a:t>
            </a:r>
            <a:r>
              <a:rPr sz="1500">
                <a:solidFill>
                  <a:srgbClr val="1A1A2E"/>
                </a:solidFill>
              </a:rPr>
              <a:t>PP-OCRv5 (Python 3.13) for scanned documents — optional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371600"/>
            <a:ext cx="3931920" cy="2743200"/>
          </a:xfrm>
          <a:prstGeom prst="roundRect">
            <a:avLst/>
          </a:prstGeom>
          <a:solidFill>
            <a:srgbClr val="E8EDF2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5A6A7A"/>
                </a:solidFill>
              </a:defRPr>
            </a:pPr>
            <a:r>
              <a:t>[ Screenshot: pgAdmin tables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4389120"/>
            <a:ext cx="3931920" cy="1828800"/>
          </a:xfrm>
          <a:prstGeom prst="roundRect">
            <a:avLst/>
          </a:prstGeom>
          <a:solidFill>
            <a:srgbClr val="E8EDF2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5A6A7A"/>
                </a:solidFill>
              </a:defRPr>
            </a:pPr>
            <a:r>
              <a:t>[ Screenshot: Folder structure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6A7A"/>
                </a:solidFill>
              </a:defRPr>
            </a:pPr>
            <a:r>
              <a:t>Advance Data Repository by Geophysical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User Roles &amp; Access Control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93776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Classification Access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Permissions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Admin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(Full Control)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General / Available for All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Sensitive / Internal Use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Confidential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Highly Confidential / Restricted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Upload, approve, reject, manage users,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manage settings, grant permissions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Operations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General / Available for All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Sensitive / Internal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Upload, approve, reject files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Data Creator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General / Available for All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+ own uploads (any classification)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Upload files, view own files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&amp; General files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End User / Viewer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General / Available for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View &amp; download General files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(grants can extend access)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5A6A7A"/>
                </a:solidFill>
              </a:defRPr>
            </a:pPr>
            <a:r>
              <a:t>  Role IDs are fixed: 1=admin, 2=ops_manager, 3=data_creator, 4=viewer</a:t>
            </a:r>
          </a:p>
          <a:p>
            <a:pPr>
              <a:spcAft>
                <a:spcPts val="400"/>
              </a:spcAft>
              <a:defRPr sz="1300">
                <a:solidFill>
                  <a:srgbClr val="5A6A7A"/>
                </a:solidFill>
              </a:defRPr>
            </a:pPr>
            <a:r>
              <a:t>  Admin role (name='admin') cannot be changed; all other users can be promoted to admin</a:t>
            </a:r>
          </a:p>
          <a:p>
            <a:pPr>
              <a:spcAft>
                <a:spcPts val="400"/>
              </a:spcAft>
              <a:defRPr sz="1300">
                <a:solidFill>
                  <a:srgbClr val="5A6A7A"/>
                </a:solidFill>
              </a:defRPr>
            </a:pPr>
            <a:r>
              <a:t>  Temporary permission grants expire after 1 hour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6A7A"/>
                </a:solidFill>
              </a:defRPr>
            </a:pPr>
            <a:r>
              <a:t>Advance Data Repository by Geophysical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Authentication &amp;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500">
                <a:solidFill>
                  <a:srgbClr val="1A1A2E"/>
                </a:solidFill>
              </a:rPr>
              <a:t>Login: </a:t>
            </a:r>
            <a:r>
              <a:rPr sz="1500">
                <a:solidFill>
                  <a:srgbClr val="1A1A2E"/>
                </a:solidFill>
              </a:rPr>
              <a:t>CPF (unique employee ID) + password</a:t>
            </a:r>
          </a:p>
          <a:p>
            <a:pPr>
              <a:spcAft>
                <a:spcPts val="400"/>
              </a:spcAft>
            </a:pPr>
            <a:r>
              <a:rPr b="1" sz="1500">
                <a:solidFill>
                  <a:srgbClr val="1A1A2E"/>
                </a:solidFill>
              </a:rPr>
              <a:t>Pre-seeded Users:</a:t>
            </a:r>
            <a:r>
              <a:rPr sz="1500">
                <a:solidFill>
                  <a:srgbClr val="1A1A2E"/>
                </a:solidFill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94560"/>
                <a:gridCol w="1554480"/>
                <a:gridCol w="173736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CPF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100001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Sh. Sandip Kumar Kaur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admin123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Sh. Pankaj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Ops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ops123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100003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Sh. Manjunath B. V.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Data Creator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user123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100004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Ms. T. Sushma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Viewer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view123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100005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Rucha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Rucha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206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5A6A7A"/>
                </a:solidFill>
              </a:defRPr>
            </a:pPr>
            <a:r>
              <a:t>  Password hashed with bcrypt ($2b$12$ rounds)</a:t>
            </a:r>
          </a:p>
          <a:p>
            <a:pPr>
              <a:spcAft>
                <a:spcPts val="200"/>
              </a:spcAft>
              <a:defRPr sz="1300">
                <a:solidFill>
                  <a:srgbClr val="5A6A7A"/>
                </a:solidFill>
              </a:defRPr>
            </a:pPr>
            <a:r>
              <a:t>  Session persists via JWT token in sessionStorage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931920" cy="4114800"/>
          </a:xfrm>
          <a:prstGeom prst="roundRect">
            <a:avLst/>
          </a:prstGeom>
          <a:solidFill>
            <a:srgbClr val="E8EDF2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5A6A7A"/>
                </a:solidFill>
              </a:defRPr>
            </a:pPr>
            <a:r>
              <a:t>[ Screenshot: Login Page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6A7A"/>
                </a:solidFill>
              </a:defRPr>
            </a:pPr>
            <a:r>
              <a:t>Advance Data Repository by Geophysical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DEFB"/>
                </a:solidFill>
              </a:defRPr>
            </a:pPr>
            <a:r>
              <a:t>Role-specific 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A1A2E"/>
                </a:solidFill>
              </a:rPr>
              <a:t>Admin: </a:t>
            </a:r>
            <a:r>
              <a:rPr sz="1500">
                <a:solidFill>
                  <a:srgbClr val="1A1A2E"/>
                </a:solidFill>
              </a:rPr>
              <a:t>Total files, pending approvals, recent uploads, bar charts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A1A2E"/>
                </a:solidFill>
              </a:rPr>
              <a:t>Ops Manager: </a:t>
            </a:r>
            <a:r>
              <a:rPr sz="1500">
                <a:solidFill>
                  <a:srgbClr val="1A1A2E"/>
                </a:solidFill>
              </a:rPr>
              <a:t>Files pending approval, recent uploads summary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A1A2E"/>
                </a:solidFill>
              </a:rPr>
              <a:t>Data Creator: </a:t>
            </a:r>
            <a:r>
              <a:rPr sz="1500">
                <a:solidFill>
                  <a:srgbClr val="1A1A2E"/>
                </a:solidFill>
              </a:rPr>
              <a:t>Own files summary, recent uploads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A1A2E"/>
                </a:solidFill>
              </a:rPr>
              <a:t>Viewer: </a:t>
            </a:r>
            <a:r>
              <a:rPr sz="1500">
                <a:solidFill>
                  <a:srgbClr val="1A1A2E"/>
                </a:solidFill>
              </a:rPr>
              <a:t>Available files summary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  Stat cards with gradient backgrounds, consistent font &amp; spacing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931920" cy="2286000"/>
          </a:xfrm>
          <a:prstGeom prst="roundRect">
            <a:avLst/>
          </a:prstGeom>
          <a:solidFill>
            <a:srgbClr val="E8EDF2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5A6A7A"/>
                </a:solidFill>
              </a:defRPr>
            </a:pPr>
            <a:r>
              <a:t>[ Screenshot: Admin Dashboard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931920"/>
            <a:ext cx="3931920" cy="2286000"/>
          </a:xfrm>
          <a:prstGeom prst="roundRect">
            <a:avLst/>
          </a:prstGeom>
          <a:solidFill>
            <a:srgbClr val="E8EDF2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5A6A7A"/>
                </a:solidFill>
              </a:defRPr>
            </a:pPr>
            <a:r>
              <a:t>[ Screenshot: Creator Dashboard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6A7A"/>
                </a:solidFill>
              </a:defRPr>
            </a:pPr>
            <a:r>
              <a:t>Advance Data Repository by Geophysical 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File 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DEFB"/>
                </a:solidFill>
              </a:defRPr>
            </a:pPr>
            <a:r>
              <a:t>Structured metadata for every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  <a:r>
              <a:t>  Upload form with 7 dropdown fields:</a:t>
            </a:r>
          </a:p>
          <a:p>
            <a:pPr>
              <a:spcAft>
                <a:spcPts val="300"/>
              </a:spcAft>
            </a:pPr>
            <a:r>
              <a:rPr b="1" sz="1300">
                <a:solidFill>
                  <a:srgbClr val="1A1A2E"/>
                </a:solidFill>
              </a:rPr>
              <a:t>  Section: </a:t>
            </a:r>
            <a:r>
              <a:rPr sz="1300">
                <a:solidFill>
                  <a:srgbClr val="1A1A2E"/>
                </a:solidFill>
              </a:rPr>
              <a:t>GP-03, GP-06, REL, RCC, HSE, …</a:t>
            </a:r>
          </a:p>
          <a:p>
            <a:pPr>
              <a:spcAft>
                <a:spcPts val="300"/>
              </a:spcAft>
            </a:pPr>
            <a:r>
              <a:rPr b="1" sz="1300">
                <a:solidFill>
                  <a:srgbClr val="1A1A2E"/>
                </a:solidFill>
              </a:rPr>
              <a:t>  Category: </a:t>
            </a:r>
            <a:r>
              <a:rPr sz="1300">
                <a:solidFill>
                  <a:srgbClr val="1A1A2E"/>
                </a:solidFill>
              </a:rPr>
              <a:t>53 categories — General Admin, Accounts, Seismic Data, …</a:t>
            </a:r>
          </a:p>
          <a:p>
            <a:pPr>
              <a:spcAft>
                <a:spcPts val="300"/>
              </a:spcAft>
            </a:pPr>
            <a:r>
              <a:rPr b="1" sz="1300">
                <a:solidFill>
                  <a:srgbClr val="1A1A2E"/>
                </a:solidFill>
              </a:rPr>
              <a:t>  Season: </a:t>
            </a:r>
            <a:r>
              <a:rPr sz="1300">
                <a:solidFill>
                  <a:srgbClr val="1A1A2E"/>
                </a:solidFill>
              </a:rPr>
              <a:t>2025-26 through 1956-57</a:t>
            </a:r>
          </a:p>
          <a:p>
            <a:pPr>
              <a:spcAft>
                <a:spcPts val="300"/>
              </a:spcAft>
            </a:pPr>
            <a:r>
              <a:rPr b="1" sz="1300">
                <a:solidFill>
                  <a:srgbClr val="1A1A2E"/>
                </a:solidFill>
              </a:rPr>
              <a:t>  Block: </a:t>
            </a:r>
            <a:r>
              <a:rPr sz="1300">
                <a:solidFill>
                  <a:srgbClr val="1A1A2E"/>
                </a:solidFill>
              </a:rPr>
              <a:t>Ankleshwar, Ahmedabad, Mehsana, Rajasthan, Other</a:t>
            </a:r>
          </a:p>
          <a:p>
            <a:pPr>
              <a:spcAft>
                <a:spcPts val="300"/>
              </a:spcAft>
            </a:pPr>
            <a:r>
              <a:rPr b="1" sz="1300">
                <a:solidFill>
                  <a:srgbClr val="1A1A2E"/>
                </a:solidFill>
              </a:rPr>
              <a:t>  File Type: </a:t>
            </a:r>
            <a:r>
              <a:rPr sz="1300">
                <a:solidFill>
                  <a:srgbClr val="1A1A2E"/>
                </a:solidFill>
              </a:rPr>
              <a:t>PDF, DOCX, XLSX, CSV, ZIP, …</a:t>
            </a:r>
          </a:p>
          <a:p>
            <a:pPr>
              <a:spcAft>
                <a:spcPts val="300"/>
              </a:spcAft>
            </a:pPr>
            <a:r>
              <a:rPr b="1" sz="1300">
                <a:solidFill>
                  <a:srgbClr val="1A1A2E"/>
                </a:solidFill>
              </a:rPr>
              <a:t>  Data Type: </a:t>
            </a:r>
            <a:r>
              <a:rPr sz="1300">
                <a:solidFill>
                  <a:srgbClr val="1A1A2E"/>
                </a:solidFill>
              </a:rPr>
              <a:t>Seismic 2D/3D, LFPS, VSP, Any Other Data</a:t>
            </a:r>
          </a:p>
          <a:p>
            <a:pPr>
              <a:spcAft>
                <a:spcPts val="300"/>
              </a:spcAft>
            </a:pPr>
            <a:r>
              <a:rPr b="1" sz="1300">
                <a:solidFill>
                  <a:srgbClr val="1A1A2E"/>
                </a:solidFill>
              </a:rPr>
              <a:t>  Classification: </a:t>
            </a:r>
            <a:r>
              <a:rPr sz="1300">
                <a:solidFill>
                  <a:srgbClr val="1A1A2E"/>
                </a:solidFill>
              </a:rPr>
              <a:t>4 levels — General to Highly Confidential</a:t>
            </a:r>
          </a:p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  <a:r>
              <a:t>  </a:t>
            </a:r>
          </a:p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  <a:r>
              <a:t>  All dropdown values stored in central 'lookups' DB table</a:t>
            </a:r>
          </a:p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  <a:r>
              <a:t>  File saved to disk: uploads/{category_sanitized}/{classification_sanitized}/{filename}</a:t>
            </a:r>
          </a:p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  <a:r>
              <a:t>  File data also stored in DB as BYTEA for redundancy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931920" cy="4572000"/>
          </a:xfrm>
          <a:prstGeom prst="roundRect">
            <a:avLst/>
          </a:prstGeom>
          <a:solidFill>
            <a:srgbClr val="E8EDF2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5A6A7A"/>
                </a:solidFill>
              </a:defRPr>
            </a:pPr>
            <a:r>
              <a:t>[ Screenshot: Upload File form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6A7A"/>
                </a:solidFill>
              </a:defRPr>
            </a:pPr>
            <a:r>
              <a:t>Advance Data Repository by Geophysical 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Approval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DEFB"/>
                </a:solidFill>
              </a:defRPr>
            </a:pPr>
            <a:r>
              <a:t>Data Creator → Ops Manager /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  1. Data Creator uploads file → status = Pending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  2. Ops Manager / Admin reviews in 'Pending Approval' page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  3. Two actions: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1A1A2E"/>
                </a:solidFill>
              </a:rPr>
              <a:t>   Approve: </a:t>
            </a:r>
            <a:r>
              <a:rPr sz="1400">
                <a:solidFill>
                  <a:srgbClr val="1A1A2E"/>
                </a:solidFill>
              </a:rPr>
              <a:t>Optionally change classification at approval time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1A1A2E"/>
                </a:solidFill>
              </a:rPr>
              <a:t>   Reject: </a:t>
            </a:r>
            <a:r>
              <a:rPr sz="1400">
                <a:solidFill>
                  <a:srgbClr val="1A1A2E"/>
                </a:solidFill>
              </a:rPr>
              <a:t>Must provide a reason (comment required)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  4. Uploader gets a notification in both cases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  5. Approved files appear under 'Approved Files' for all authorized roles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  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  Classification color-coding in table:</a:t>
            </a:r>
          </a:p>
          <a:p>
            <a:pPr>
              <a:spcAft>
                <a:spcPts val="500"/>
              </a:spcAft>
              <a:defRPr sz="1400">
                <a:solidFill>
                  <a:srgbClr val="1A1A2E"/>
                </a:solidFill>
              </a:defRPr>
            </a:pPr>
            <a:r>
              <a:t>    General = Green   |   Sensitive = Orange   |   Confidential = Red   |   Highly Confidential = Purple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931920" cy="2011680"/>
          </a:xfrm>
          <a:prstGeom prst="roundRect">
            <a:avLst/>
          </a:prstGeom>
          <a:solidFill>
            <a:srgbClr val="E8EDF2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5A6A7A"/>
                </a:solidFill>
              </a:defRPr>
            </a:pPr>
            <a:r>
              <a:t>[ Screenshot: Approve dialog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657600"/>
            <a:ext cx="3931920" cy="2011680"/>
          </a:xfrm>
          <a:prstGeom prst="roundRect">
            <a:avLst/>
          </a:prstGeom>
          <a:solidFill>
            <a:srgbClr val="E8EDF2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5A6A7A"/>
                </a:solidFill>
              </a:defRPr>
            </a:pPr>
            <a:r>
              <a:t>[ Screenshot: Reject dialog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6A7A"/>
                </a:solidFill>
              </a:defRPr>
            </a:pPr>
            <a:r>
              <a:t>Advance Data Repository by Geophysical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DEFB"/>
                </a:solidFill>
              </a:defRPr>
            </a:pPr>
            <a:r>
              <a:t>Real-time alerts for file status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Bell icon in header showing unread notification count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Click bell → dropdown with all notifications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Each notification shows: file name, action taken, who did it, reason (if rejected)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Mark individual notification as read, or 'Mark all read'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Auto-polls every 15 seconds for new notifications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Notifications created for: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A1A2E"/>
                </a:solidFill>
              </a:rPr>
              <a:t>  Approval: </a:t>
            </a:r>
            <a:r>
              <a:rPr sz="1400">
                <a:solidFill>
                  <a:srgbClr val="1A1A2E"/>
                </a:solidFill>
              </a:rPr>
              <a:t>"Your file X has been approved by Y"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A1A2E"/>
                </a:solidFill>
              </a:rPr>
              <a:t>  Rejection: </a:t>
            </a:r>
            <a:r>
              <a:rPr sz="1400">
                <a:solidFill>
                  <a:srgbClr val="1A1A2E"/>
                </a:solidFill>
              </a:rPr>
              <a:t>"Your file X was rejected by Y. Reason: …"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931920" cy="2743200"/>
          </a:xfrm>
          <a:prstGeom prst="roundRect">
            <a:avLst/>
          </a:prstGeom>
          <a:solidFill>
            <a:srgbClr val="E8EDF2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5A6A7A"/>
                </a:solidFill>
              </a:defRPr>
            </a:pPr>
            <a:r>
              <a:t>[ Screenshot: Notifications dropdown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4389120"/>
            <a:ext cx="3931920" cy="1371600"/>
          </a:xfrm>
          <a:prstGeom prst="roundRect">
            <a:avLst/>
          </a:prstGeom>
          <a:solidFill>
            <a:srgbClr val="E8EDF2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5A6A7A"/>
                </a:solidFill>
              </a:defRPr>
            </a:pPr>
            <a:r>
              <a:t>[ Screenshot: Bell icon with count badge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6A7A"/>
                </a:solidFill>
              </a:defRPr>
            </a:pPr>
            <a:r>
              <a:t>Advance Data Repository by Geophysical Services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File Records &amp;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DEFB"/>
                </a:solidFill>
              </a:defRPr>
            </a:pPr>
            <a:r>
              <a:t>Browse, filter, and download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Table view with columns: S.No, File Name, Category, Classification,</a:t>
            </a:r>
            <a:br/>
            <a:r>
              <a:t>  Section, Season, Uploaded By, Status, Actions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Status filters: All, Pending, Approved, Rejected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Search by file name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Classification color-coded badges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Download button for approved files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Click file name to view details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Sidebar navigation: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1A1A2E"/>
                </a:solidFill>
              </a:rPr>
              <a:t>  Admin: </a:t>
            </a:r>
            <a:r>
              <a:rPr sz="1200">
                <a:solidFill>
                  <a:srgbClr val="1A1A2E"/>
                </a:solidFill>
              </a:rPr>
              <a:t>Dashboard | Upload File | File Records | Pending Approval | Approved Files | Rejected Files | Reports | Users | Access Permissions | Settings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1A1A2E"/>
                </a:solidFill>
              </a:rPr>
              <a:t>  Ops Manager: </a:t>
            </a:r>
            <a:r>
              <a:rPr sz="1200">
                <a:solidFill>
                  <a:srgbClr val="1A1A2E"/>
                </a:solidFill>
              </a:rPr>
              <a:t>Dashboard | Upload File | File Records | Pending Approval | Approved Files | Rejected Files | Reports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1A1A2E"/>
                </a:solidFill>
              </a:rPr>
              <a:t>  Data Creator: </a:t>
            </a:r>
            <a:r>
              <a:rPr sz="1200">
                <a:solidFill>
                  <a:srgbClr val="1A1A2E"/>
                </a:solidFill>
              </a:rPr>
              <a:t>Dashboard | Upload File | My Files | Reports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1A1A2E"/>
                </a:solidFill>
              </a:rPr>
              <a:t>  Viewer: </a:t>
            </a:r>
            <a:r>
              <a:rPr sz="1200">
                <a:solidFill>
                  <a:srgbClr val="1A1A2E"/>
                </a:solidFill>
              </a:rPr>
              <a:t>Dashboard | File Records | Approved Files |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931920" cy="3200400"/>
          </a:xfrm>
          <a:prstGeom prst="roundRect">
            <a:avLst/>
          </a:prstGeom>
          <a:solidFill>
            <a:srgbClr val="E8EDF2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5A6A7A"/>
                </a:solidFill>
              </a:defRPr>
            </a:pPr>
            <a:r>
              <a:t>[ Screenshot: File Records table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4846320"/>
            <a:ext cx="3931920" cy="1188720"/>
          </a:xfrm>
          <a:prstGeom prst="roundRect">
            <a:avLst/>
          </a:prstGeom>
          <a:solidFill>
            <a:srgbClr val="E8EDF2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5A6A7A"/>
                </a:solidFill>
              </a:defRPr>
            </a:pPr>
            <a:r>
              <a:t>[ Screenshot: Sidebar menus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6A7A"/>
                </a:solidFill>
              </a:defRPr>
            </a:pPr>
            <a:r>
              <a:t>Advance Data Repository by Geophysical 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DEFB"/>
                </a:solidFill>
              </a:defRPr>
            </a:pPr>
            <a:r>
              <a:t>Admin only — role assignment &amp;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View all users in table format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Change user role via dropdown (only 'admin' role name is immutable)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Any user can be promoted to admin (no restriction)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Grant temporary classification access: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A1A2E"/>
                </a:solidFill>
              </a:rPr>
              <a:t>  Expires after: </a:t>
            </a:r>
            <a:r>
              <a:rPr sz="1400">
                <a:solidFill>
                  <a:srgbClr val="1A1A2E"/>
                </a:solidFill>
              </a:rPr>
              <a:t>1 hour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A1A2E"/>
                </a:solidFill>
              </a:rPr>
              <a:t>  Filtered automatically: </a:t>
            </a:r>
            <a:r>
              <a:rPr sz="1400">
                <a:solidFill>
                  <a:srgbClr val="1A1A2E"/>
                </a:solidFill>
              </a:rPr>
              <a:t>Expired permissions excluded from API responses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Activity log tracks user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931920" cy="2286000"/>
          </a:xfrm>
          <a:prstGeom prst="roundRect">
            <a:avLst/>
          </a:prstGeom>
          <a:solidFill>
            <a:srgbClr val="E8EDF2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5A6A7A"/>
                </a:solidFill>
              </a:defRPr>
            </a:pPr>
            <a:r>
              <a:t>[ Screenshot: User Management page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931920"/>
            <a:ext cx="3931920" cy="2286000"/>
          </a:xfrm>
          <a:prstGeom prst="roundRect">
            <a:avLst/>
          </a:prstGeom>
          <a:solidFill>
            <a:srgbClr val="E8EDF2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5A6A7A"/>
                </a:solidFill>
              </a:defRPr>
            </a:pPr>
            <a:r>
              <a:t>[ Screenshot: Grant permission dialog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6A7A"/>
                </a:solidFill>
              </a:defRPr>
            </a:pPr>
            <a:r>
              <a:t>Advance Data Repository by Geophysical Services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Settings: Dropdown Options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DEFB"/>
                </a:solidFill>
              </a:defRPr>
            </a:pPr>
            <a:r>
              <a:t>Admin only — manage dropdown values dynamically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All dropdown options stored in central 'lookups' DB table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7 option types: Sections, Categories, Seasons, Blocks, File Types, Data Types, Classifications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Admin can Add / Edit / Delete values for any type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Changes reflect immediately in Upload forms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156 pre-seeded values covering all dropdowns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  No hardcoded arrays — fully data-driven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931920" cy="3657600"/>
          </a:xfrm>
          <a:prstGeom prst="roundRect">
            <a:avLst/>
          </a:prstGeom>
          <a:solidFill>
            <a:srgbClr val="E8EDF2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5A6A7A"/>
                </a:solidFill>
              </a:defRPr>
            </a:pPr>
            <a:r>
              <a:t>[ Screenshot: Settings / Dropdown Manager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6A7A"/>
                </a:solidFill>
              </a:defRPr>
            </a:pPr>
            <a:r>
              <a:t>Advance Data Repository by Geophysical Services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BDEFB"/>
                </a:solidFill>
              </a:defRPr>
            </a:pPr>
            <a:r>
              <a:t>Monthly file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  Monthly file upload statistics with bar charts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  Breakdown by month (last 12 months)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  Available to all roles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  Data aggregated from files table by created_at month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9418320" cy="2743200"/>
          </a:xfrm>
          <a:prstGeom prst="roundRect">
            <a:avLst/>
          </a:prstGeom>
          <a:solidFill>
            <a:srgbClr val="E8EDF2"/>
          </a:solidFill>
          <a:ln w="1905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5A6A7A"/>
                </a:solidFill>
              </a:defRPr>
            </a:pPr>
            <a:r>
              <a:t>[ Screenshot: Reports page with bar chart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6A7A"/>
                </a:solidFill>
              </a:defRPr>
            </a:pPr>
            <a:r>
              <a:t>Advance Data Repository by Geophysical Services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 &amp; Design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A1A2E"/>
                </a:solidFill>
              </a:rPr>
              <a:t>Integer-only IDs: </a:t>
            </a:r>
            <a:r>
              <a:rPr sz="1500">
                <a:solidFill>
                  <a:srgbClr val="1A1A2E"/>
                </a:solidFill>
              </a:rPr>
              <a:t>All primary/foreign keys are clean auto-increment integers — no UUIDs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A1A2E"/>
                </a:solidFill>
              </a:rPr>
              <a:t>Role-Based Access: </a:t>
            </a:r>
            <a:r>
              <a:rPr sz="1500">
                <a:solidFill>
                  <a:srgbClr val="1A1A2E"/>
                </a:solidFill>
              </a:rPr>
              <a:t>Each role sees only permitted classifications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A1A2E"/>
                </a:solidFill>
              </a:rPr>
              <a:t>Expiring Permissions: </a:t>
            </a:r>
            <a:r>
              <a:rPr sz="1500">
                <a:solidFill>
                  <a:srgbClr val="1A1A2E"/>
                </a:solidFill>
              </a:rPr>
              <a:t>Admin-granted permissions auto-expire after 1 hour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A1A2E"/>
                </a:solidFill>
              </a:rPr>
              <a:t>Admin Role Immutable: </a:t>
            </a:r>
            <a:r>
              <a:rPr sz="1500">
                <a:solidFill>
                  <a:srgbClr val="1A1A2E"/>
                </a:solidFill>
              </a:rPr>
              <a:t>The role named 'admin' cannot be changed/deleted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A1A2E"/>
                </a:solidFill>
              </a:rPr>
              <a:t>Rejection Requires Reason: </a:t>
            </a:r>
            <a:r>
              <a:rPr sz="1500">
                <a:solidFill>
                  <a:srgbClr val="1A1A2E"/>
                </a:solidFill>
              </a:rPr>
              <a:t>Mandatory comment field prevents silent rejections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A1A2E"/>
                </a:solidFill>
              </a:rPr>
              <a:t>Password Security: </a:t>
            </a:r>
            <a:r>
              <a:rPr sz="1500">
                <a:solidFill>
                  <a:srgbClr val="1A1A2E"/>
                </a:solidFill>
              </a:rPr>
              <a:t>bcrypt hashing ($2b$12$ rounds), JWT token auth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A1A2E"/>
                </a:solidFill>
              </a:rPr>
              <a:t>Professional UI: </a:t>
            </a:r>
            <a:r>
              <a:rPr sz="1500">
                <a:solidFill>
                  <a:srgbClr val="1A1A2E"/>
                </a:solidFill>
              </a:rPr>
              <a:t>Segoe UI font, gradient headers, card-based layout, consistent spacing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A1A2E"/>
                </a:solidFill>
              </a:rPr>
              <a:t>Footer Hidden: </a:t>
            </a:r>
            <a:r>
              <a:rPr sz="1500">
                <a:solidFill>
                  <a:srgbClr val="1A1A2E"/>
                </a:solidFill>
              </a:rPr>
              <a:t>Footer removed after login for cleaner workspace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A1A2E"/>
                </a:solidFill>
              </a:rPr>
              <a:t>Font Sizes: </a:t>
            </a:r>
            <a:r>
              <a:rPr sz="1500">
                <a:solidFill>
                  <a:srgbClr val="1A1A2E"/>
                </a:solidFill>
              </a:rPr>
              <a:t>Table text 14px, small elements 13px, tiny 12px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6A7A"/>
                </a:solidFill>
              </a:defRPr>
            </a:pPr>
            <a:r>
              <a:t>Advance Data Repository by Geophysical Services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228600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React + Vite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React 18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5173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Backend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Python FastAPI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Python 3.14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8000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PostgreSQL + pgvector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PostgreSQL 15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5433 (Docker)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Admin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pgAdmin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5050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OCR (optional)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PP-OCRv5 (PaddleOCR)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Python 3.13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Embeddings (optional)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sentence-transformers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all-MiniLM-L6-v2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Container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Docker Compose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3EE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949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5A6A7A"/>
                </a:solidFill>
              </a:defRPr>
            </a:pPr>
            <a:r>
              <a:t>  Backend: uvicorn ASGI server, SQLAlchemy async ORM, Alembic migrations</a:t>
            </a:r>
          </a:p>
          <a:p>
            <a:pPr>
              <a:spcAft>
                <a:spcPts val="300"/>
              </a:spcAft>
              <a:defRPr sz="1300">
                <a:solidFill>
                  <a:srgbClr val="5A6A7A"/>
                </a:solidFill>
              </a:defRPr>
            </a:pPr>
            <a:r>
              <a:t>  Database: pgvector extension for vector embeddings (optional semantic search)</a:t>
            </a:r>
          </a:p>
          <a:p>
            <a:pPr>
              <a:spcAft>
                <a:spcPts val="300"/>
              </a:spcAft>
              <a:defRPr sz="1300">
                <a:solidFill>
                  <a:srgbClr val="5A6A7A"/>
                </a:solidFill>
              </a:defRPr>
            </a:pPr>
            <a:r>
              <a:t>  Frontend: React hooks (useState, useEffect, useCallback), inline styles via JS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6A7A"/>
                </a:solidFill>
              </a:defRPr>
            </a:pPr>
            <a:r>
              <a:t>Advance Data Repository by Geophysical Services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Live 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400">
                <a:solidFill>
                  <a:srgbClr val="1A1A2E"/>
                </a:solidFill>
              </a:rPr>
              <a:t>1. Login as Admin:</a:t>
            </a:r>
            <a:r>
              <a:rPr sz="1400">
                <a:solidFill>
                  <a:srgbClr val="1A1A2E"/>
                </a:solidFill>
              </a:rPr>
              <a:t> CPF: 100001 / Password: admin123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 → Show Dashboard stats, sidebar menu items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 → Go to User Management → show user table + role dropdown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 → Go to Settings → show Dropdown Options Manager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</a:t>
            </a:r>
          </a:p>
          <a:p>
            <a:pPr>
              <a:spcAft>
                <a:spcPts val="300"/>
              </a:spcAft>
            </a:pPr>
            <a:r>
              <a:rPr b="1" sz="1400">
                <a:solidFill>
                  <a:srgbClr val="1A1A2E"/>
                </a:solidFill>
              </a:rPr>
              <a:t>2. Login as Data Creator:</a:t>
            </a:r>
            <a:r>
              <a:rPr sz="1400">
                <a:solidFill>
                  <a:srgbClr val="1A1A2E"/>
                </a:solidFill>
              </a:rPr>
              <a:t> CPF: 100003 / Password: user123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 → Upload a new file (fill all dropdowns, choose 'General')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 → Go to My Files → confirm file shows as Pending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</a:t>
            </a:r>
          </a:p>
          <a:p>
            <a:pPr>
              <a:spcAft>
                <a:spcPts val="300"/>
              </a:spcAft>
            </a:pPr>
            <a:r>
              <a:rPr b="1" sz="1400">
                <a:solidFill>
                  <a:srgbClr val="1A1A2E"/>
                </a:solidFill>
              </a:rPr>
              <a:t>3. Login as Ops Manager:</a:t>
            </a:r>
            <a:r>
              <a:rPr sz="1400">
                <a:solidFill>
                  <a:srgbClr val="1A1A2E"/>
                </a:solidFill>
              </a:rPr>
              <a:t> CPF: 100002 / Password: ops123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 → Go to Pending Approval → find the file → Approve it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 → (or Reject with a reason)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</a:t>
            </a:r>
          </a:p>
          <a:p>
            <a:pPr>
              <a:spcAft>
                <a:spcPts val="300"/>
              </a:spcAft>
            </a:pPr>
            <a:r>
              <a:rPr b="1" sz="1400">
                <a:solidFill>
                  <a:srgbClr val="1A1A2E"/>
                </a:solidFill>
              </a:rPr>
              <a:t>4. Login back as Data Creator:</a:t>
            </a:r>
            <a:r>
              <a:rPr sz="1400">
                <a:solidFill>
                  <a:srgbClr val="1A1A2E"/>
                </a:solidFill>
              </a:rPr>
              <a:t/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 → See notification bell with red badge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 → Click bell → see approval/rejection notification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</a:t>
            </a:r>
          </a:p>
          <a:p>
            <a:pPr>
              <a:spcAft>
                <a:spcPts val="300"/>
              </a:spcAft>
            </a:pPr>
            <a:r>
              <a:rPr b="1" sz="1400">
                <a:solidFill>
                  <a:srgbClr val="1A1A2E"/>
                </a:solidFill>
              </a:rPr>
              <a:t>5. Login as Viewer:</a:t>
            </a:r>
            <a:r>
              <a:rPr sz="1400">
                <a:solidFill>
                  <a:srgbClr val="1A1A2E"/>
                </a:solidFill>
              </a:rPr>
              <a:t> CPF: 100004 / Password: view123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 → Browse Approved Files → download the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6A7A"/>
                </a:solidFill>
              </a:defRPr>
            </a:pPr>
            <a:r>
              <a:t>Advance Data Repository by Geophysical Services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2200">
                <a:solidFill>
                  <a:srgbClr val="BBDEFB"/>
                </a:solidFill>
              </a:defRPr>
            </a:pPr>
            <a:r>
              <a:t>Advance Data Repository by Geophysical Services</a:t>
            </a:r>
          </a:p>
          <a:p>
            <a:pPr algn="ctr">
              <a:spcBef>
                <a:spcPts val="3000"/>
              </a:spcBef>
              <a:defRPr sz="20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